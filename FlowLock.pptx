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1" r:id="rId2"/>
    <p:sldId id="292" r:id="rId3"/>
    <p:sldId id="299" r:id="rId4"/>
    <p:sldId id="301" r:id="rId5"/>
    <p:sldId id="283" r:id="rId6"/>
    <p:sldId id="281" r:id="rId7"/>
    <p:sldId id="298" r:id="rId8"/>
    <p:sldId id="3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C4547-4D84-4DE3-B5FE-98BC2C8C4C8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72145-F834-4CDD-B707-9E6347B0A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470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5ECD-1BAF-00BE-4828-E2AC2849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A37588EB-83CD-0BC3-E863-7FBAD21B2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95BEFDC-FD92-70F8-7274-7302E605A7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32DA7F0-8A26-F24C-8D35-D592925E5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166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452D-032B-0856-2AED-F61174EDC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5B078-7A10-37E4-A8DE-CB0810859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EA50C-DA64-494D-991E-71EC8456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E86F4-E2F9-5BD7-97CD-9161E6EA6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29499-DF50-2A0A-45B8-97ADB1C2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735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9E6A-0717-DA64-4BEA-A2E367CC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AC329-8CD9-CA6B-EEE9-5F1AA4DB2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B83FD-7349-3A3A-086D-C0B9C4D6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71E94-A971-067F-6E1B-0D7ECAA6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918BE-5C92-3D4D-27B5-60C71EC2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18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48B1-EF07-BE99-27A5-C7A3585A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537CC-3CA5-5E2A-6ED0-9947A749C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C49B3-F180-6717-20EF-B37FB617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9006-B418-EB63-23C0-067BBFB4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5E86D-7AB3-7EDA-E0B8-B4F067E1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26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F1F8-CAC8-2E2A-7D21-1EE043F8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15F80-2C79-D251-48D3-EA605A145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DE000-FB86-501D-0D7E-50A386AB6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3C73E-6280-BAFF-86CE-36DA95F4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98C9A-2640-78AB-6894-CA332089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3E408-25B9-FFDB-2115-DB8110D0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1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CC35-C8CF-5461-6959-B8A72766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F1F07-2031-BB80-3AC3-62D6631A8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7C43B-E171-FDC9-2DB5-15BBCF242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1E209-934A-054C-E8DC-1ACC5EE9B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05B0A-9904-5351-F1E6-1712AF0C6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9765B-7970-76E6-E2B9-5C2D9E20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C84DB-6F1F-763C-6708-FDCC8546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7CF0D5-B49A-8C76-8888-30E671359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1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6AF5-E70E-D786-48B8-6744B5A5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54B51F-37AC-95AC-E0B5-72627533F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DC56F-29A0-34A8-EE10-2D5D1715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07544-4AB5-60D6-A9E4-16C88642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65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CA3132-C22E-2499-13C0-2BD7CDEB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D0B3E-CC5E-6AB7-DAAF-261872CD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43AF4-5951-F0EE-7814-F600C681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35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A536-FA66-DF4E-D00D-911597EE0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5D1E-DE45-0092-4020-C534F800E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B4BB7-5BC3-FD86-4576-A31EC9376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53C92-1598-90A8-9B36-42ACE1F5C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D7C9A-1872-5510-FE0F-2F51D8215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5F83A-D53F-47A8-C290-B6EADAFA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12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D299-B2FD-FDA1-0233-AF44BEC72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C8CAA-D05E-52EF-ECB5-08D78D9D3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5063E-FA03-A2D2-2065-768FC59A2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BB2CA-DF3D-E6FB-A60B-2B03BE67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D4CF4-D6A0-BCED-5C93-6B4AA9DE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B3A54-F494-066F-E574-732B28ED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665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12E-60C3-5921-EAC5-D3A50736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F3A85-0874-C0F9-91B4-BEDA54C9D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95F4E-B8D3-A5C8-34F3-6268CAFB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0B3F3-AEFE-447E-0A0C-C07A88EB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AEB96-7F63-E1DF-2592-C1C88914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04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F43EF-CB93-BB9E-0C78-FF0EB4D2E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2E58B-1050-D0E6-3585-C9E9E831B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29619-90F7-2CE2-361C-6FEC07C8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05C4F-0D46-9846-A14D-395AF1C0C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A3CE7-E6FB-C395-6BAD-FE24E270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20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3F9D4-F907-902B-9EC3-4006EE66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FB797-CC03-B7B2-8AD2-2B8B94C0C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2E4CE-F9AF-B47F-D3DD-4E547E7A4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6CF6F-CCFA-454C-A77D-529C17AA4217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B60DC-9F23-F3E7-3C27-01C4B3DE1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4204C-6063-72A3-DC53-AB1FFF019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A15AF-1DD2-4C1D-AF26-0F8A4E3D5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64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58446"/>
            <a:ext cx="8534400" cy="1752600"/>
          </a:xfrm>
        </p:spPr>
        <p:txBody>
          <a:bodyPr>
            <a:normAutofit fontScale="85000" lnSpcReduction="20000"/>
          </a:bodyPr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b="1" u="sng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“Flow Lock”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Code Craft Chase Edition 2.0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10965605" cy="219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Vegabond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Date of Submission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5th February, 2026</a:t>
            </a:r>
          </a:p>
        </p:txBody>
      </p:sp>
      <p:pic>
        <p:nvPicPr>
          <p:cNvPr id="6" name="Picture 5" descr="SRM Institute of Science and Technology">
            <a:extLst>
              <a:ext uri="{FF2B5EF4-FFF2-40B4-BE49-F238E27FC236}">
                <a16:creationId xmlns:a16="http://schemas.microsoft.com/office/drawing/2014/main" id="{4D64FB93-1DE3-5D83-FBCD-63901D604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40" y="0"/>
            <a:ext cx="2075062" cy="120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F6766730-DFE8-1639-2B3E-207E0E91C7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B130E7-7D3D-DAFB-B4D7-CB7366CDB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304" y="2271631"/>
            <a:ext cx="2874499" cy="2874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37544" y="-197533"/>
            <a:ext cx="10972800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4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42165" y="567970"/>
            <a:ext cx="9363557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700" dirty="0"/>
              <a:t>Modern applications depend </a:t>
            </a:r>
            <a:r>
              <a:rPr lang="en-US" sz="1700" i="1" dirty="0"/>
              <a:t>heavily</a:t>
            </a:r>
            <a:r>
              <a:rPr lang="en-US" sz="1700" dirty="0"/>
              <a:t> on APIs to deliver core functionality, integrate third-party services, and process sensitive data. As API usage grows, APIs increasingly become high-value targets for </a:t>
            </a:r>
            <a:r>
              <a:rPr lang="en-US" sz="1700" b="1" dirty="0"/>
              <a:t>abuse</a:t>
            </a:r>
            <a:r>
              <a:rPr lang="en-US" sz="1700" dirty="0"/>
              <a:t>, including </a:t>
            </a:r>
            <a:r>
              <a:rPr lang="en-US" sz="1700" i="1" dirty="0"/>
              <a:t>excessive automated requests</a:t>
            </a:r>
            <a:r>
              <a:rPr lang="en-US" sz="1700" dirty="0"/>
              <a:t>, </a:t>
            </a:r>
            <a:r>
              <a:rPr lang="en-US" sz="1700" i="1" dirty="0"/>
              <a:t>scraping</a:t>
            </a:r>
            <a:r>
              <a:rPr lang="en-US" sz="1700" dirty="0"/>
              <a:t>, </a:t>
            </a:r>
            <a:r>
              <a:rPr lang="en-US" sz="1700" i="1" dirty="0"/>
              <a:t>credential stuffing</a:t>
            </a:r>
            <a:r>
              <a:rPr lang="en-US" sz="1700" dirty="0"/>
              <a:t>, and </a:t>
            </a:r>
            <a:r>
              <a:rPr lang="en-US" sz="1700" i="1" dirty="0"/>
              <a:t>sophisticated rate-limit bypass techniques</a:t>
            </a:r>
            <a:r>
              <a:rPr lang="en-US" sz="1700" dirty="0"/>
              <a:t>. Traditional rate-limiting approaches are often static and threshold-based, making them predictable and easy to exploit.</a:t>
            </a:r>
          </a:p>
          <a:p>
            <a:endParaRPr lang="en-US" sz="1700" dirty="0"/>
          </a:p>
          <a:p>
            <a:r>
              <a:rPr lang="en-US" sz="1700" b="1" dirty="0"/>
              <a:t>Why this problem matters:</a:t>
            </a:r>
          </a:p>
          <a:p>
            <a:endParaRPr lang="en-US" sz="17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Security risks:</a:t>
            </a:r>
            <a:r>
              <a:rPr lang="en-US" sz="1700" dirty="0"/>
              <a:t> API abuse can lead to data breaches, account takeovers, and exposure of sensitive endpoints.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 Service availability:</a:t>
            </a:r>
            <a:r>
              <a:rPr lang="en-US" sz="1700" dirty="0"/>
              <a:t> Unchecked traffic can cause performance degradation or complete denial of service for legitimate users.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Financial impact:</a:t>
            </a:r>
            <a:r>
              <a:rPr lang="en-US" sz="1700" dirty="0"/>
              <a:t> Abuse increases infrastructure costs due to unnecessary compute and bandwidth usage.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Scalability challenges:</a:t>
            </a:r>
            <a:r>
              <a:rPr lang="en-US" sz="1700" dirty="0"/>
              <a:t> Static limits fail to adapt to dynamic traffic patterns and evolving attack strategies.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700" dirty="0"/>
          </a:p>
          <a:p>
            <a:r>
              <a:rPr lang="en-US" sz="1700" i="1" dirty="0">
                <a:solidFill>
                  <a:srgbClr val="FF0000"/>
                </a:solidFill>
              </a:rPr>
              <a:t>Flow Lock</a:t>
            </a:r>
            <a:r>
              <a:rPr lang="en-US" sz="1700" dirty="0">
                <a:solidFill>
                  <a:srgbClr val="FF0000"/>
                </a:solidFill>
              </a:rPr>
              <a:t> </a:t>
            </a:r>
            <a:r>
              <a:rPr lang="en-US" sz="1700" dirty="0"/>
              <a:t>addresses these challenges by introducing intelligent, flow-aware protection that detects abnormal API usage patterns and prevents rate-limit bypass attempts in real time while simultaneously ensuring secure, scalable, and reliable API access without disrupting legitimate users.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SRM Institute of Science and Technology">
            <a:extLst>
              <a:ext uri="{FF2B5EF4-FFF2-40B4-BE49-F238E27FC236}">
                <a16:creationId xmlns:a16="http://schemas.microsoft.com/office/drawing/2014/main" id="{D676E360-F264-01FD-53D3-774523FC1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40" y="0"/>
            <a:ext cx="2075062" cy="120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4977DD6F-FDC2-41B1-D288-00960B987C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4634" y="109764"/>
            <a:ext cx="2075062" cy="8073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VEGABOND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55904" y="134711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83522" y="1079309"/>
            <a:ext cx="11460363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 Secure API Abuse &amp; Rate-Limit Bypass Detection</a:t>
            </a:r>
          </a:p>
          <a:p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API usage is often exploited by attackers, compromising personal data, causing service disruptions and enabling financial fraud.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And since API is so vital in the modern digital world, it has become a major target to attackers.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However, most individuals and organizations still use primitive methods for API protection, which aren’t entirely affective and can be easily by-passed by attackers using simple methods. This is where we come in….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SRM Institute of Science and Technology">
            <a:extLst>
              <a:ext uri="{FF2B5EF4-FFF2-40B4-BE49-F238E27FC236}">
                <a16:creationId xmlns:a16="http://schemas.microsoft.com/office/drawing/2014/main" id="{EB82BDEF-3E8D-DA0D-F587-561A95FA8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40" y="0"/>
            <a:ext cx="2075062" cy="120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F5BC10-1CB4-8275-67A6-5ED3D78203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06" t="32142" b="24177"/>
          <a:stretch>
            <a:fillRect/>
          </a:stretch>
        </p:blipFill>
        <p:spPr>
          <a:xfrm>
            <a:off x="397010" y="4403850"/>
            <a:ext cx="7190231" cy="18539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F76B16-9AD9-EA19-D425-7D6854EB9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188" y="4114663"/>
            <a:ext cx="2143125" cy="2143125"/>
          </a:xfrm>
          <a:prstGeom prst="rect">
            <a:avLst/>
          </a:prstGeom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8482E84F-F6E0-5FA1-9A3A-74725B5B3C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4634" y="109764"/>
            <a:ext cx="2075062" cy="8073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VEGABOND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74700" y="214077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</a:t>
            </a:r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129200"/>
            <a:ext cx="9385300" cy="538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800" b="1" u="sng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FLOWLOCK</a:t>
            </a:r>
            <a:endParaRPr lang="en-US" sz="2800" b="1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endParaRPr lang="en-US" sz="1400" b="1" dirty="0"/>
          </a:p>
          <a:p>
            <a:r>
              <a:rPr lang="en-US" sz="2000" b="1" dirty="0"/>
              <a:t>Behavior-Based API Abuse Detection</a:t>
            </a:r>
            <a:br>
              <a:rPr lang="en-US" sz="2000" dirty="0"/>
            </a:br>
            <a:r>
              <a:rPr lang="en-US" sz="2000" dirty="0"/>
              <a:t>   It detects abuse by </a:t>
            </a:r>
            <a:r>
              <a:rPr lang="en-US" sz="2000" i="1" dirty="0"/>
              <a:t>how APIs are used</a:t>
            </a:r>
            <a:r>
              <a:rPr lang="en-US" sz="2000" dirty="0"/>
              <a:t>, not just </a:t>
            </a:r>
            <a:r>
              <a:rPr lang="en-US" sz="2000" i="1" dirty="0"/>
              <a:t>how often, which is the fatal flow in most API protection</a:t>
            </a:r>
            <a:r>
              <a:rPr lang="en-US" sz="2000" dirty="0"/>
              <a:t>.</a:t>
            </a:r>
          </a:p>
          <a:p>
            <a:r>
              <a:rPr lang="en-IN" sz="2000" b="1" dirty="0"/>
              <a:t>What We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Monitor API traffic in real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Analyse request behaviour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Score abuse risk (0–100)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Adaptively allow, throttle, or block traffic</a:t>
            </a:r>
          </a:p>
          <a:p>
            <a:r>
              <a:rPr lang="en-IN" sz="2000" b="1" dirty="0"/>
              <a:t>Signals We Analyse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Request bursts &amp; timing regularity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Endpoint sequencing (scraping)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Failure rates (credential stuffing)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IP / token switching</a:t>
            </a:r>
          </a:p>
          <a:p>
            <a:endParaRPr lang="en-US" sz="1400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2" name="Picture 1" descr="SRM Institute of Science and Technology">
            <a:extLst>
              <a:ext uri="{FF2B5EF4-FFF2-40B4-BE49-F238E27FC236}">
                <a16:creationId xmlns:a16="http://schemas.microsoft.com/office/drawing/2014/main" id="{6D809540-EEA4-3A45-C5E4-36D43003C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40" y="0"/>
            <a:ext cx="2075062" cy="120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075B39-CE1B-F833-22CE-70F13EF32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119" y="3121659"/>
            <a:ext cx="2697353" cy="2697353"/>
          </a:xfrm>
          <a:prstGeom prst="rect">
            <a:avLst/>
          </a:prstGeom>
        </p:spPr>
      </p:pic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90983375-0F46-6C0B-CDFB-E489200B1E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4634" y="109764"/>
            <a:ext cx="2075062" cy="8073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VEGABOND</a:t>
            </a:r>
          </a:p>
        </p:txBody>
      </p:sp>
    </p:spTree>
    <p:extLst>
      <p:ext uri="{BB962C8B-B14F-4D97-AF65-F5344CB8AC3E}">
        <p14:creationId xmlns:p14="http://schemas.microsoft.com/office/powerpoint/2010/main" val="52718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D927A102-95B9-6BFA-8BFB-2C211C47E0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9728" y="146364"/>
            <a:ext cx="2075062" cy="8073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VEGABOND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F19080-DC25-4ECB-5636-6422D173672A}"/>
              </a:ext>
            </a:extLst>
          </p:cNvPr>
          <p:cNvSpPr txBox="1">
            <a:spLocks/>
          </p:cNvSpPr>
          <p:nvPr/>
        </p:nvSpPr>
        <p:spPr>
          <a:xfrm>
            <a:off x="536448" y="57614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40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 PROPOSED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 descr="SRM Institute of Science and Technology">
            <a:extLst>
              <a:ext uri="{FF2B5EF4-FFF2-40B4-BE49-F238E27FC236}">
                <a16:creationId xmlns:a16="http://schemas.microsoft.com/office/drawing/2014/main" id="{06BC1AC7-70DE-483C-E088-1A821CD54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490" y="88918"/>
            <a:ext cx="1577781" cy="91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E560AC-1D30-27AF-0446-FBC7044C8D69}"/>
              </a:ext>
            </a:extLst>
          </p:cNvPr>
          <p:cNvSpPr txBox="1"/>
          <p:nvPr/>
        </p:nvSpPr>
        <p:spPr>
          <a:xfrm>
            <a:off x="265176" y="1173242"/>
            <a:ext cx="655624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Our proposed solution is a </a:t>
            </a:r>
            <a:r>
              <a:rPr lang="en-US" sz="2000" b="1" i="1" dirty="0"/>
              <a:t>behavior-based</a:t>
            </a:r>
            <a:r>
              <a:rPr lang="en-US" sz="2000" dirty="0"/>
              <a:t> API security system that detects abuse patterns instead of relying on fixed rate limits.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system continuously </a:t>
            </a:r>
            <a:r>
              <a:rPr lang="en-US" sz="2000" b="1" dirty="0"/>
              <a:t>monitors API request behavior</a:t>
            </a:r>
            <a:r>
              <a:rPr lang="en-US" sz="2000" dirty="0"/>
              <a:t>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analyzes </a:t>
            </a:r>
            <a:r>
              <a:rPr lang="en-US" sz="2000" b="1" dirty="0"/>
              <a:t>request timing, frequency, endpoint access patterns, and failure rates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behavioral risk score</a:t>
            </a:r>
            <a:r>
              <a:rPr lang="en-US" sz="2000" dirty="0"/>
              <a:t> is calculated for each client/session.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Based on the </a:t>
            </a:r>
            <a:r>
              <a:rPr lang="en-US" sz="2000" b="1" i="1" dirty="0"/>
              <a:t>risk score</a:t>
            </a:r>
            <a:r>
              <a:rPr lang="en-US" sz="2000" dirty="0"/>
              <a:t>, the system applies </a:t>
            </a:r>
            <a:r>
              <a:rPr lang="en-US" sz="2000" b="1" i="1" dirty="0"/>
              <a:t>adaptive rate-limiting: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Normal users → uninterrupted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Suspicious users → throttled responses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Malicious users → temporary blocking or 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approach prevents </a:t>
            </a:r>
            <a:r>
              <a:rPr lang="en-US" sz="2000" b="1" dirty="0"/>
              <a:t>credential stuffing, scraping, and rate-limit bypass attacks</a:t>
            </a:r>
            <a:r>
              <a:rPr lang="en-US" sz="2000" dirty="0"/>
              <a:t> without impacting legitimate users.</a:t>
            </a:r>
            <a:endParaRPr lang="en-IN" sz="2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71CA6A-B8EC-F3FC-C5E2-4E96953C4DB5}"/>
              </a:ext>
            </a:extLst>
          </p:cNvPr>
          <p:cNvSpPr/>
          <p:nvPr/>
        </p:nvSpPr>
        <p:spPr>
          <a:xfrm>
            <a:off x="8680704" y="1090600"/>
            <a:ext cx="2898648" cy="12004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API Request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BBB8BD-677B-7A5C-C3E5-4AE0BB2A9F88}"/>
              </a:ext>
            </a:extLst>
          </p:cNvPr>
          <p:cNvSpPr/>
          <p:nvPr/>
        </p:nvSpPr>
        <p:spPr>
          <a:xfrm>
            <a:off x="8680704" y="2533059"/>
            <a:ext cx="2898648" cy="12004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 err="1">
                <a:solidFill>
                  <a:schemeClr val="tx1"/>
                </a:solidFill>
              </a:rPr>
              <a:t>Behavior</a:t>
            </a:r>
            <a:r>
              <a:rPr lang="en-IN" sz="3600" b="1" dirty="0">
                <a:solidFill>
                  <a:schemeClr val="tx1"/>
                </a:solidFill>
              </a:rPr>
              <a:t> Analysis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F9FBEB-5B60-E375-40D8-6706871A5222}"/>
              </a:ext>
            </a:extLst>
          </p:cNvPr>
          <p:cNvSpPr/>
          <p:nvPr/>
        </p:nvSpPr>
        <p:spPr>
          <a:xfrm>
            <a:off x="8711810" y="3974008"/>
            <a:ext cx="2898648" cy="12004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Risk Scoring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559CBC-5A04-2616-2A92-DA098BAFFDA8}"/>
              </a:ext>
            </a:extLst>
          </p:cNvPr>
          <p:cNvSpPr/>
          <p:nvPr/>
        </p:nvSpPr>
        <p:spPr>
          <a:xfrm>
            <a:off x="8711810" y="5414957"/>
            <a:ext cx="2898648" cy="12004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Adaptive Response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2E240C-92E1-8BF9-C0A1-ED79DE2AC9FA}"/>
              </a:ext>
            </a:extLst>
          </p:cNvPr>
          <p:cNvCxnSpPr/>
          <p:nvPr/>
        </p:nvCxnSpPr>
        <p:spPr>
          <a:xfrm>
            <a:off x="10130028" y="2291047"/>
            <a:ext cx="0" cy="242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381859-58A8-22CE-9BE4-74200D0A3873}"/>
              </a:ext>
            </a:extLst>
          </p:cNvPr>
          <p:cNvCxnSpPr/>
          <p:nvPr/>
        </p:nvCxnSpPr>
        <p:spPr>
          <a:xfrm>
            <a:off x="10130028" y="3731996"/>
            <a:ext cx="0" cy="242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B7C76F-396C-AEBA-7745-D780122BAB3F}"/>
              </a:ext>
            </a:extLst>
          </p:cNvPr>
          <p:cNvCxnSpPr/>
          <p:nvPr/>
        </p:nvCxnSpPr>
        <p:spPr>
          <a:xfrm>
            <a:off x="10116312" y="5174455"/>
            <a:ext cx="0" cy="242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579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71272" y="146364"/>
            <a:ext cx="10972800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40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 TO BE USED</a:t>
            </a:r>
            <a:b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SRM Institute of Science and Technology">
            <a:extLst>
              <a:ext uri="{FF2B5EF4-FFF2-40B4-BE49-F238E27FC236}">
                <a16:creationId xmlns:a16="http://schemas.microsoft.com/office/drawing/2014/main" id="{D676E360-F264-01FD-53D3-774523FC1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40" y="0"/>
            <a:ext cx="2075062" cy="120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0B45B30-BAA5-0F06-B762-26E5969868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9728" y="146364"/>
            <a:ext cx="2075062" cy="8073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VEGABOND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B2553D-08A6-0764-E748-6E229C6774FC}"/>
              </a:ext>
            </a:extLst>
          </p:cNvPr>
          <p:cNvSpPr/>
          <p:nvPr/>
        </p:nvSpPr>
        <p:spPr>
          <a:xfrm>
            <a:off x="2322576" y="1289363"/>
            <a:ext cx="7135370" cy="46449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605880-D96D-9670-C637-F33937A0B753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5890261" y="1289363"/>
            <a:ext cx="0" cy="46449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FEAED-F45C-FF6A-6D68-823DF160B250}"/>
              </a:ext>
            </a:extLst>
          </p:cNvPr>
          <p:cNvCxnSpPr>
            <a:cxnSpLocks/>
          </p:cNvCxnSpPr>
          <p:nvPr/>
        </p:nvCxnSpPr>
        <p:spPr>
          <a:xfrm>
            <a:off x="2322576" y="2167128"/>
            <a:ext cx="713537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F02BF6-0F56-28D6-8382-0F5045EC0597}"/>
              </a:ext>
            </a:extLst>
          </p:cNvPr>
          <p:cNvCxnSpPr>
            <a:cxnSpLocks/>
          </p:cNvCxnSpPr>
          <p:nvPr/>
        </p:nvCxnSpPr>
        <p:spPr>
          <a:xfrm>
            <a:off x="2322576" y="3151632"/>
            <a:ext cx="713537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17FC77-63F1-A9C1-F56D-D804C46DD5E9}"/>
              </a:ext>
            </a:extLst>
          </p:cNvPr>
          <p:cNvCxnSpPr>
            <a:cxnSpLocks/>
          </p:cNvCxnSpPr>
          <p:nvPr/>
        </p:nvCxnSpPr>
        <p:spPr>
          <a:xfrm>
            <a:off x="2322576" y="4114800"/>
            <a:ext cx="713537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9B3533-DD39-212E-824E-E363DF50F2A3}"/>
              </a:ext>
            </a:extLst>
          </p:cNvPr>
          <p:cNvCxnSpPr>
            <a:cxnSpLocks/>
          </p:cNvCxnSpPr>
          <p:nvPr/>
        </p:nvCxnSpPr>
        <p:spPr>
          <a:xfrm>
            <a:off x="2322576" y="5047488"/>
            <a:ext cx="713537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3B8B79A-0945-87AB-582E-E11DFD88DA06}"/>
              </a:ext>
            </a:extLst>
          </p:cNvPr>
          <p:cNvSpPr txBox="1"/>
          <p:nvPr/>
        </p:nvSpPr>
        <p:spPr>
          <a:xfrm>
            <a:off x="2414021" y="1540115"/>
            <a:ext cx="3246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🧠 </a:t>
            </a:r>
            <a:r>
              <a:rPr lang="en-IN" sz="2400" dirty="0"/>
              <a:t>Backend &amp; API Layer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78CCA8-C863-F2B2-B99A-C8BE2464550B}"/>
              </a:ext>
            </a:extLst>
          </p:cNvPr>
          <p:cNvSpPr txBox="1"/>
          <p:nvPr/>
        </p:nvSpPr>
        <p:spPr>
          <a:xfrm>
            <a:off x="5889362" y="1326589"/>
            <a:ext cx="3706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FastAPI</a:t>
            </a:r>
            <a:r>
              <a:rPr lang="en-US" sz="1600" b="1" dirty="0"/>
              <a:t> (Python)</a:t>
            </a:r>
            <a:r>
              <a:rPr lang="en-US" sz="1600" dirty="0"/>
              <a:t> – high-performance, async API framework</a:t>
            </a:r>
          </a:p>
          <a:p>
            <a:r>
              <a:rPr lang="en-IN" sz="1600" b="1" dirty="0" err="1"/>
              <a:t>Uvicorn</a:t>
            </a:r>
            <a:r>
              <a:rPr lang="en-IN" sz="1600" dirty="0"/>
              <a:t> – ASGI server for running APIs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DA7ADF-4C2B-1F43-4B08-2B986154EB0F}"/>
              </a:ext>
            </a:extLst>
          </p:cNvPr>
          <p:cNvSpPr txBox="1"/>
          <p:nvPr/>
        </p:nvSpPr>
        <p:spPr>
          <a:xfrm>
            <a:off x="2184790" y="2268819"/>
            <a:ext cx="3602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📊 </a:t>
            </a:r>
            <a:r>
              <a:rPr lang="en-IN" sz="2400" dirty="0" err="1"/>
              <a:t>Behavior</a:t>
            </a:r>
            <a:r>
              <a:rPr lang="en-IN" sz="2400" dirty="0"/>
              <a:t> Monitoring &amp; Logging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3844B5-C61E-DE6B-22DA-124422B366FE}"/>
              </a:ext>
            </a:extLst>
          </p:cNvPr>
          <p:cNvSpPr txBox="1"/>
          <p:nvPr/>
        </p:nvSpPr>
        <p:spPr>
          <a:xfrm>
            <a:off x="5890261" y="2145708"/>
            <a:ext cx="38404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Python Logging / In-Memory Storage</a:t>
            </a:r>
            <a:r>
              <a:rPr lang="en-US" sz="1600" dirty="0"/>
              <a:t>  store API request logs</a:t>
            </a:r>
          </a:p>
          <a:p>
            <a:r>
              <a:rPr lang="en-IN" sz="1600" b="1" dirty="0"/>
              <a:t>Request Metadata</a:t>
            </a:r>
            <a:r>
              <a:rPr lang="en-IN" sz="1600" dirty="0"/>
              <a:t> timestamp, </a:t>
            </a:r>
          </a:p>
          <a:p>
            <a:r>
              <a:rPr lang="en-IN" sz="1600" dirty="0" err="1"/>
              <a:t>endpoint,response</a:t>
            </a:r>
            <a:r>
              <a:rPr lang="en-IN" sz="1600" dirty="0"/>
              <a:t> </a:t>
            </a:r>
            <a:r>
              <a:rPr lang="en-IN" sz="1600" dirty="0" err="1"/>
              <a:t>code,IP</a:t>
            </a:r>
            <a:r>
              <a:rPr lang="en-IN" sz="1600" dirty="0"/>
              <a:t>/session 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91EFA6-65B5-8F0D-AE5D-DFC1C6631F5D}"/>
              </a:ext>
            </a:extLst>
          </p:cNvPr>
          <p:cNvSpPr txBox="1"/>
          <p:nvPr/>
        </p:nvSpPr>
        <p:spPr>
          <a:xfrm>
            <a:off x="2184790" y="3381154"/>
            <a:ext cx="3602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🔍 Detection &amp;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2ADA02-70EF-0D70-07FB-9E8BCAAADEAC}"/>
              </a:ext>
            </a:extLst>
          </p:cNvPr>
          <p:cNvSpPr txBox="1"/>
          <p:nvPr/>
        </p:nvSpPr>
        <p:spPr>
          <a:xfrm>
            <a:off x="5941181" y="3125163"/>
            <a:ext cx="36027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Rule-Based Heuristics</a:t>
            </a:r>
            <a:r>
              <a:rPr lang="en-US" sz="1600" dirty="0"/>
              <a:t> – burst detection, failure ratio checks</a:t>
            </a:r>
          </a:p>
          <a:p>
            <a:r>
              <a:rPr lang="en-IN" sz="1600" b="1" dirty="0"/>
              <a:t>Statistical Analysis</a:t>
            </a:r>
            <a:r>
              <a:rPr lang="en-IN" sz="1600" dirty="0"/>
              <a:t> – request timing variance, sequence entropy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C5B6DF-E176-4DE1-5068-B8B361FBA9BB}"/>
              </a:ext>
            </a:extLst>
          </p:cNvPr>
          <p:cNvSpPr txBox="1"/>
          <p:nvPr/>
        </p:nvSpPr>
        <p:spPr>
          <a:xfrm>
            <a:off x="2184790" y="4202381"/>
            <a:ext cx="3602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🔐 Security &amp; Control Layer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F05B28-E360-A6AD-F5D4-AE04A9E3E2F0}"/>
              </a:ext>
            </a:extLst>
          </p:cNvPr>
          <p:cNvSpPr txBox="1"/>
          <p:nvPr/>
        </p:nvSpPr>
        <p:spPr>
          <a:xfrm>
            <a:off x="5925308" y="4042785"/>
            <a:ext cx="3602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Adaptive Rate Limiting</a:t>
            </a:r>
            <a:r>
              <a:rPr lang="en-US" sz="1600" dirty="0"/>
              <a:t> – dynamic throttling based on risk score</a:t>
            </a:r>
          </a:p>
          <a:p>
            <a:r>
              <a:rPr lang="en-US" sz="1600" b="1" dirty="0"/>
              <a:t>Temporary Blocking</a:t>
            </a:r>
            <a:r>
              <a:rPr lang="en-US" sz="1600" dirty="0"/>
              <a:t> – short-term mitigation for high-risk sessions</a:t>
            </a:r>
          </a:p>
          <a:p>
            <a:endParaRPr lang="en-IN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ADAFE4-6487-AD7E-3AE1-A53C68CC583F}"/>
              </a:ext>
            </a:extLst>
          </p:cNvPr>
          <p:cNvSpPr txBox="1"/>
          <p:nvPr/>
        </p:nvSpPr>
        <p:spPr>
          <a:xfrm>
            <a:off x="2148841" y="5239460"/>
            <a:ext cx="3602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🧪 Testing &amp; Simulation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661B4B-0B84-FB50-8ED5-CFB493E4C218}"/>
              </a:ext>
            </a:extLst>
          </p:cNvPr>
          <p:cNvSpPr txBox="1"/>
          <p:nvPr/>
        </p:nvSpPr>
        <p:spPr>
          <a:xfrm>
            <a:off x="5882638" y="4996988"/>
            <a:ext cx="38404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cURL</a:t>
            </a:r>
            <a:r>
              <a:rPr lang="en-US" sz="1400" b="1" dirty="0"/>
              <a:t> / Python Scripts</a:t>
            </a:r>
            <a:r>
              <a:rPr lang="en-US" sz="1400" dirty="0"/>
              <a:t> simulate normal users and attackers</a:t>
            </a:r>
          </a:p>
          <a:p>
            <a:r>
              <a:rPr lang="en-US" sz="1400" b="1" dirty="0"/>
              <a:t>Synthetic Traffic Generation</a:t>
            </a:r>
            <a:r>
              <a:rPr lang="en-US" sz="1400" dirty="0"/>
              <a:t>  credential stuffing &amp; scraping patterns</a:t>
            </a:r>
            <a:endParaRPr lang="en-IN" sz="1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C40E3AA-6952-7988-FD2E-4C78953FF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786" y="868055"/>
            <a:ext cx="2409937" cy="230302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0F25E79-E417-77BD-0E5B-D5DCB554D4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7" t="-2562" r="2756" b="2562"/>
          <a:stretch>
            <a:fillRect/>
          </a:stretch>
        </p:blipFill>
        <p:spPr>
          <a:xfrm>
            <a:off x="144781" y="4139535"/>
            <a:ext cx="2142749" cy="71384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06720AF-978A-5BDB-ACEA-E378F5C8A9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779" y="3332456"/>
            <a:ext cx="2200655" cy="220065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A5C10AE-9649-9108-DD4F-03D92D17BA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0" r="17309"/>
          <a:stretch>
            <a:fillRect/>
          </a:stretch>
        </p:blipFill>
        <p:spPr>
          <a:xfrm>
            <a:off x="68195" y="1929697"/>
            <a:ext cx="2186186" cy="15423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Selling Point (USP)</a:t>
            </a:r>
            <a:endParaRPr lang="en-US" sz="3600" b="1" u="sng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55701" y="1248072"/>
            <a:ext cx="9385300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200" b="1" dirty="0"/>
              <a:t>The "Behavior-First" Advantage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Behavior Over Identity</a:t>
            </a:r>
            <a:endParaRPr lang="en-US" sz="2200" dirty="0"/>
          </a:p>
          <a:p>
            <a:pPr lvl="1"/>
            <a:r>
              <a:rPr lang="en-US" sz="2200" i="1" dirty="0"/>
              <a:t>Others:</a:t>
            </a:r>
            <a:r>
              <a:rPr lang="en-US" sz="2200" dirty="0"/>
              <a:t> Block IPs (ineffective against VPNs/Proxies).</a:t>
            </a:r>
          </a:p>
          <a:p>
            <a:pPr lvl="1"/>
            <a:r>
              <a:rPr lang="en-US" sz="2200" i="1" dirty="0"/>
              <a:t>Us:</a:t>
            </a:r>
            <a:r>
              <a:rPr lang="en-US" sz="2200" dirty="0"/>
              <a:t> Detects </a:t>
            </a:r>
            <a:r>
              <a:rPr lang="en-US" sz="2200" b="1" dirty="0"/>
              <a:t>patterns</a:t>
            </a:r>
            <a:r>
              <a:rPr lang="en-US" sz="2200" dirty="0"/>
              <a:t> (timing, sequence, frequency). Behavior cannot be spoofed easily.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Agnostic to IP Rotation</a:t>
            </a:r>
            <a:endParaRPr lang="en-US" sz="2200" dirty="0"/>
          </a:p>
          <a:p>
            <a:pPr lvl="1"/>
            <a:r>
              <a:rPr lang="en-US" sz="2200" dirty="0"/>
              <a:t>Detects abuse even if the attacker changes their IP address for every single request.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Smart Throttling </a:t>
            </a:r>
            <a:r>
              <a:rPr lang="en-US" sz="2200" dirty="0"/>
              <a:t>Instead of hard blocking (which alerts the attacker), we introduce </a:t>
            </a:r>
            <a:r>
              <a:rPr lang="en-US" sz="2200" b="1" dirty="0"/>
              <a:t>artificial </a:t>
            </a:r>
            <a:r>
              <a:rPr lang="en-US" sz="2200" b="1" dirty="0" err="1"/>
              <a:t>latency</a:t>
            </a:r>
            <a:r>
              <a:rPr lang="en-US" sz="2200" dirty="0" err="1"/>
              <a:t>.Destroys</a:t>
            </a:r>
            <a:r>
              <a:rPr lang="en-US" sz="2200" dirty="0"/>
              <a:t> the attacker's ROI while keeping the API  open for genuine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 Zero Friction UX</a:t>
            </a:r>
            <a:endParaRPr lang="en-US" sz="2200" dirty="0"/>
          </a:p>
          <a:p>
            <a:pPr lvl="1"/>
            <a:r>
              <a:rPr lang="en-US" sz="2200" dirty="0"/>
              <a:t>No CAPTCHAs. No puzzles. Invisible security that doesn't annoy real humans.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2" name="Picture 1" descr="SRM Institute of Science and Technology">
            <a:extLst>
              <a:ext uri="{FF2B5EF4-FFF2-40B4-BE49-F238E27FC236}">
                <a16:creationId xmlns:a16="http://schemas.microsoft.com/office/drawing/2014/main" id="{6D809540-EEA4-3A45-C5E4-36D43003C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40" y="0"/>
            <a:ext cx="2075062" cy="120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10F2304-2363-9DDF-D7C7-5E49BBC35F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9728" y="146364"/>
            <a:ext cx="2075062" cy="8073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VEGABOND</a:t>
            </a:r>
          </a:p>
        </p:txBody>
      </p:sp>
    </p:spTree>
    <p:extLst>
      <p:ext uri="{BB962C8B-B14F-4D97-AF65-F5344CB8AC3E}">
        <p14:creationId xmlns:p14="http://schemas.microsoft.com/office/powerpoint/2010/main" val="370951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946-F48B-53AF-4C22-B4F416F6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072C83-F8EA-4812-2154-9B997492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9CC6F4C-4786-FF90-E67A-AA59E471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b="1" u="sng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307D2665-4EF0-6285-8E94-E88E90249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701" y="1248072"/>
            <a:ext cx="9385300" cy="5663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Key Takeaways</a:t>
            </a: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200" b="1" dirty="0"/>
              <a:t>Paradigm Shift:</a:t>
            </a:r>
            <a:r>
              <a:rPr lang="en-US" sz="2200" dirty="0"/>
              <a:t> Successfully moved security from </a:t>
            </a:r>
            <a:r>
              <a:rPr lang="en-US" sz="2200" b="1" dirty="0"/>
              <a:t>Static Identity</a:t>
            </a:r>
            <a:r>
              <a:rPr lang="en-US" sz="2200" dirty="0"/>
              <a:t> (IPs) to </a:t>
            </a:r>
            <a:r>
              <a:rPr lang="en-US" sz="2200" b="1" dirty="0"/>
              <a:t>Dynamic Behavior</a:t>
            </a:r>
            <a:r>
              <a:rPr lang="en-US" sz="22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200" b="1" dirty="0"/>
              <a:t>Resilient Defense:</a:t>
            </a:r>
            <a:r>
              <a:rPr lang="en-US" sz="2200" dirty="0"/>
              <a:t> Stops sophisticated attackers even when they rotate IPs or use proxies.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200" b="1" dirty="0"/>
              <a:t>User-Centric:</a:t>
            </a:r>
            <a:r>
              <a:rPr lang="en-US" sz="2200" dirty="0"/>
              <a:t> Prevents abuse without using CAPTCHAs or hurting genuine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Future Scope</a:t>
            </a:r>
            <a:endParaRPr lang="en-IN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b="1" dirty="0"/>
              <a:t> AI Models:</a:t>
            </a:r>
            <a:r>
              <a:rPr lang="en-IN" sz="2200" dirty="0"/>
              <a:t> Integrate unsupervised learning to detect unknown attack patterns automatically.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b="1" dirty="0"/>
              <a:t> Device Fingerprinting:</a:t>
            </a:r>
            <a:r>
              <a:rPr lang="en-IN" sz="2200" dirty="0"/>
              <a:t> Add browser canvas/audio fingerprinting for deeper tracking.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b="1" dirty="0"/>
              <a:t> Global Scaling:</a:t>
            </a:r>
            <a:r>
              <a:rPr lang="en-IN" sz="2200" dirty="0"/>
              <a:t> Deploy Redis Cluster to sync limits across multiple geographic regions.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2E0D2-CD04-4024-5523-9E5F5E83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2" name="Picture 1" descr="SRM Institute of Science and Technology">
            <a:extLst>
              <a:ext uri="{FF2B5EF4-FFF2-40B4-BE49-F238E27FC236}">
                <a16:creationId xmlns:a16="http://schemas.microsoft.com/office/drawing/2014/main" id="{9917F457-3446-EE32-311C-7A1827286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40" y="0"/>
            <a:ext cx="2075062" cy="120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112A5DA-77A2-EBDF-9056-0E3D450283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9728" y="146364"/>
            <a:ext cx="2075062" cy="8073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VEGABOND</a:t>
            </a:r>
          </a:p>
        </p:txBody>
      </p:sp>
    </p:spTree>
    <p:extLst>
      <p:ext uri="{BB962C8B-B14F-4D97-AF65-F5344CB8AC3E}">
        <p14:creationId xmlns:p14="http://schemas.microsoft.com/office/powerpoint/2010/main" val="343302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838</Words>
  <Application>Microsoft Office PowerPoint</Application>
  <PresentationFormat>Widescreen</PresentationFormat>
  <Paragraphs>110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ＭＳ Ｐゴシック</vt:lpstr>
      <vt:lpstr>Aptos</vt:lpstr>
      <vt:lpstr>Aptos Display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Code Craft Chase Edition 2.0 2026</vt:lpstr>
      <vt:lpstr> Introduction </vt:lpstr>
      <vt:lpstr> PROBLEM STATEMENT</vt:lpstr>
      <vt:lpstr>   ABSTRACT</vt:lpstr>
      <vt:lpstr>PowerPoint Presentation</vt:lpstr>
      <vt:lpstr> TECH TO BE USED </vt:lpstr>
      <vt:lpstr>Unique Selling Point (USP)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KOHLI (RA2511056010045)</dc:creator>
  <cp:lastModifiedBy>DEV KOHLI (RA2511056010045)</cp:lastModifiedBy>
  <cp:revision>6</cp:revision>
  <dcterms:created xsi:type="dcterms:W3CDTF">2026-02-05T08:31:12Z</dcterms:created>
  <dcterms:modified xsi:type="dcterms:W3CDTF">2026-02-05T15:27:16Z</dcterms:modified>
</cp:coreProperties>
</file>